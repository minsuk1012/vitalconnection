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2926080" cy="411480"/>
          </a:xfrm>
          <a:prstGeom prst="roundRect">
            <a:avLst>
              <a:gd name="adj" fmla="val 44444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병원 전문 글로벌 마케팅 에이전시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11827"/>
                </a:solidFill>
              </a:rPr>
              <a:t>대한민국의 의료기술,
</a:t>
            </a:r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563EB"/>
                </a:solidFill>
              </a:rPr>
              <a:t>세계와 연결합니다.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외국인 환자 유치, 더 이상 고민하지 마세요.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VitalConnection의 데이터 기반 올인원 솔루션으로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B5563"/>
                </a:solidFill>
              </a:rPr>
              <a:t>귀원의 글로벌 브랜딩을 시작하세요.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502920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0" dist="38100" dir="16200000">
              <a:srgbClr val="2563E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5029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입점 문의하기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1645920"/>
            <a:ext cx="4114800" cy="201168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162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0" y="18288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월간 문의 </a:t>
            </a:r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</a:rPr>
              <a:t>+245%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25603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Global Patients
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12 Countries Connected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01200" y="4114800"/>
            <a:ext cx="3200400" cy="32004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6126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VitalConnection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45720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3" name="Text 1"/>
          <p:cNvSpPr/>
          <p:nvPr/>
        </p:nvSpPr>
        <p:spPr>
          <a:xfrm>
            <a:off x="4389120" y="457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71600" y="91440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11827"/>
                </a:solidFill>
              </a:rPr>
              <a:t>환자가 병원에 도착하기까지
</a:t>
            </a:r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2563EB"/>
                </a:solidFill>
              </a:rPr>
              <a:t>VitalConnection의 3-Step 시스템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0" y="3291840"/>
            <a:ext cx="7589520" cy="5486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560320"/>
            <a:ext cx="3200400" cy="34747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48840" y="2834640"/>
            <a:ext cx="1097280" cy="1097280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16200000">
              <a:srgbClr val="2563E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48840" y="2834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정밀 타겟팅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46634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현지 검색 트렌드와 빅데이터를 분석하여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한국 의료에 관심 있는 잠재 고객을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발굴합니다.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560320"/>
            <a:ext cx="3200400" cy="34747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06440" y="2834640"/>
            <a:ext cx="1097280" cy="1097280"/>
          </a:xfrm>
          <a:prstGeom prst="roundRect">
            <a:avLst>
              <a:gd name="adj" fmla="val 20833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16200000">
              <a:srgbClr val="4F46E5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06440" y="2834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1:1 밀착 상담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46634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AI 번역 시스템과 전문 코디네이터가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언어 장벽 없이 내원 전 신뢰를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구축합니다.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0" y="2560320"/>
            <a:ext cx="3200400" cy="34747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64040" y="2834640"/>
            <a:ext cx="1097280" cy="1097280"/>
          </a:xfrm>
          <a:prstGeom prst="roundRect">
            <a:avLst>
              <a:gd name="adj" fmla="val 20833"/>
            </a:avLst>
          </a:prstGeom>
          <a:solidFill>
            <a:srgbClr val="9333EA"/>
          </a:solidFill>
          <a:ln/>
          <a:effectLst>
            <a:outerShdw sx="100000" sy="100000" kx="0" ky="0" algn="bl" rotWithShape="0" blurRad="101600" dist="38100" dir="16200000">
              <a:srgbClr val="9333EA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64040" y="2834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68680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내원 및 케어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46634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공항 픽업부터 진료, 사후 관리까지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끊김 없는(Seamless) 경험을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제공합니다.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Our Expertise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병원 맞춤형 </a:t>
            </a:r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All-in-One</a:t>
            </a:r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 솔루션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0" y="1554480"/>
            <a:ext cx="7616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단순 광고 대행이 아닙니다. 병원의 특장점을 분석하여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진성 환자를 유입시키는 전략적 파트너입니다.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60320" cy="329184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283464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76200" dist="25400" dir="16200000">
              <a:srgbClr val="2563EB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34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타겟 국가 최적화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4480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국가별 선호 시술 데이터 분석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및 현지화 마케팅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2560320"/>
            <a:ext cx="2560320" cy="329184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0" y="283464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  <a:effectLst>
            <a:outerShdw sx="100000" sy="100000" kx="0" ky="0" algn="bl" rotWithShape="0" blurRad="76200" dist="25400" dir="16200000">
              <a:srgbClr val="059669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0" y="2834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840480" y="3931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다국어 SEO/SEM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40480" y="4480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구글 상위 노출 및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키워드 점유 전략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560320"/>
            <a:ext cx="2560320" cy="329184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0" y="283464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9333EA"/>
          </a:solidFill>
          <a:ln/>
          <a:effectLst>
            <a:outerShdw sx="100000" sy="100000" kx="0" ky="0" algn="bl" rotWithShape="0" blurRad="76200" dist="25400" dir="16200000">
              <a:srgbClr val="9333EA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2834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675120" y="3931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인플루언서 연계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4480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해외 뷰티 유튜버/틱톡커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협업 콘텐츠 제작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35440" y="2560320"/>
            <a:ext cx="2560320" cy="329184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84080" y="283464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76200" dist="25400" dir="16200000">
              <a:srgbClr val="4F46E5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784080" y="2834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509760" y="3931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실시간 상담 지원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09760" y="44805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AI 챗봇 및 현지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</a:rPr>
              <a:t>코디네이터 연결 시스템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MARKET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11827"/>
                </a:solidFill>
              </a:rPr>
              <a:t>급증하는
</a:t>
            </a:r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563EB"/>
                </a:solidFill>
              </a:rPr>
              <a:t>방한 외래관광객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</a:rPr>
              <a:t>2024년 11월부터 2025년 10월까지의 데이터는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</a:rPr>
              <a:t>폭발적인 관광객 증가세를 보여줍니다.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B5563"/>
                </a:solidFill>
              </a:rPr>
              <a:t>지금이 바로 글로벌 환자 유치 마케팅을 시작할 최적의 타이밍입니다.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49569" y="4371081"/>
            <a:ext cx="640080" cy="1572519"/>
          </a:xfrm>
          <a:prstGeom prst="roundRect">
            <a:avLst>
              <a:gd name="adj" fmla="val 11429"/>
            </a:avLst>
          </a:prstGeom>
          <a:solidFill>
            <a:srgbClr val="93C5FD"/>
          </a:solidFill>
          <a:ln/>
        </p:spPr>
      </p:sp>
      <p:sp>
        <p:nvSpPr>
          <p:cNvPr id="6" name="Text 4"/>
          <p:cNvSpPr/>
          <p:nvPr/>
        </p:nvSpPr>
        <p:spPr>
          <a:xfrm>
            <a:off x="858129" y="6035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24.11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807698" y="4475309"/>
            <a:ext cx="640080" cy="1468291"/>
          </a:xfrm>
          <a:prstGeom prst="roundRect">
            <a:avLst>
              <a:gd name="adj" fmla="val 11429"/>
            </a:avLst>
          </a:prstGeom>
          <a:solidFill>
            <a:srgbClr val="93C5FD"/>
          </a:solidFill>
          <a:ln/>
        </p:spPr>
      </p:sp>
      <p:sp>
        <p:nvSpPr>
          <p:cNvPr id="8" name="Text 6"/>
          <p:cNvSpPr/>
          <p:nvPr/>
        </p:nvSpPr>
        <p:spPr>
          <a:xfrm>
            <a:off x="1716258" y="6035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65828" y="4652794"/>
            <a:ext cx="640080" cy="1290806"/>
          </a:xfrm>
          <a:prstGeom prst="roundRect">
            <a:avLst>
              <a:gd name="adj" fmla="val 11429"/>
            </a:avLst>
          </a:prstGeom>
          <a:solidFill>
            <a:srgbClr val="93C5FD"/>
          </a:solidFill>
          <a:ln/>
        </p:spPr>
      </p:sp>
      <p:sp>
        <p:nvSpPr>
          <p:cNvPr id="10" name="Text 8"/>
          <p:cNvSpPr/>
          <p:nvPr/>
        </p:nvSpPr>
        <p:spPr>
          <a:xfrm>
            <a:off x="2574388" y="6035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25.01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523957" y="4628341"/>
            <a:ext cx="640080" cy="1315259"/>
          </a:xfrm>
          <a:prstGeom prst="roundRect">
            <a:avLst>
              <a:gd name="adj" fmla="val 11429"/>
            </a:avLst>
          </a:prstGeom>
          <a:solidFill>
            <a:srgbClr val="93C5FD"/>
          </a:solidFill>
          <a:ln/>
        </p:spPr>
      </p:sp>
      <p:sp>
        <p:nvSpPr>
          <p:cNvPr id="12" name="Text 10"/>
          <p:cNvSpPr/>
          <p:nvPr/>
        </p:nvSpPr>
        <p:spPr>
          <a:xfrm>
            <a:off x="3432517" y="6035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82086" y="4078177"/>
            <a:ext cx="640080" cy="1865423"/>
          </a:xfrm>
          <a:prstGeom prst="roundRect">
            <a:avLst>
              <a:gd name="adj" fmla="val 11429"/>
            </a:avLst>
          </a:prstGeom>
          <a:solidFill>
            <a:srgbClr val="93C5FD"/>
          </a:solidFill>
          <a:ln/>
        </p:spPr>
      </p:sp>
      <p:sp>
        <p:nvSpPr>
          <p:cNvPr id="14" name="Text 12"/>
          <p:cNvSpPr/>
          <p:nvPr/>
        </p:nvSpPr>
        <p:spPr>
          <a:xfrm>
            <a:off x="4290646" y="6035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240215" y="3971288"/>
            <a:ext cx="640080" cy="1972312"/>
          </a:xfrm>
          <a:prstGeom prst="roundRect">
            <a:avLst>
              <a:gd name="adj" fmla="val 11429"/>
            </a:avLst>
          </a:prstGeom>
          <a:solidFill>
            <a:srgbClr val="93C5FD"/>
          </a:solidFill>
          <a:ln/>
        </p:spPr>
      </p:sp>
      <p:sp>
        <p:nvSpPr>
          <p:cNvPr id="16" name="Text 14"/>
          <p:cNvSpPr/>
          <p:nvPr/>
        </p:nvSpPr>
        <p:spPr>
          <a:xfrm>
            <a:off x="5148775" y="6035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98345" y="4061088"/>
            <a:ext cx="640080" cy="1882512"/>
          </a:xfrm>
          <a:prstGeom prst="roundRect">
            <a:avLst>
              <a:gd name="adj" fmla="val 11429"/>
            </a:avLst>
          </a:prstGeom>
          <a:solidFill>
            <a:srgbClr val="93C5FD"/>
          </a:solidFill>
          <a:ln/>
        </p:spPr>
      </p:sp>
      <p:sp>
        <p:nvSpPr>
          <p:cNvPr id="18" name="Text 16"/>
          <p:cNvSpPr/>
          <p:nvPr/>
        </p:nvSpPr>
        <p:spPr>
          <a:xfrm>
            <a:off x="6006905" y="6035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956474" y="4072835"/>
            <a:ext cx="640080" cy="1870765"/>
          </a:xfrm>
          <a:prstGeom prst="roundRect">
            <a:avLst>
              <a:gd name="adj" fmla="val 11429"/>
            </a:avLst>
          </a:prstGeom>
          <a:solidFill>
            <a:srgbClr val="93C5FD"/>
          </a:solidFill>
          <a:ln/>
        </p:spPr>
      </p:sp>
      <p:sp>
        <p:nvSpPr>
          <p:cNvPr id="20" name="Text 18"/>
          <p:cNvSpPr/>
          <p:nvPr/>
        </p:nvSpPr>
        <p:spPr>
          <a:xfrm>
            <a:off x="6865034" y="6035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814603" y="3941149"/>
            <a:ext cx="640080" cy="2002451"/>
          </a:xfrm>
          <a:prstGeom prst="roundRect">
            <a:avLst>
              <a:gd name="adj" fmla="val 11429"/>
            </a:avLst>
          </a:prstGeom>
          <a:solidFill>
            <a:srgbClr val="93C5FD"/>
          </a:solidFill>
          <a:ln/>
        </p:spPr>
      </p:sp>
      <p:sp>
        <p:nvSpPr>
          <p:cNvPr id="22" name="Text 20"/>
          <p:cNvSpPr/>
          <p:nvPr/>
        </p:nvSpPr>
        <p:spPr>
          <a:xfrm>
            <a:off x="7723163" y="6035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07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672732" y="3840480"/>
            <a:ext cx="640080" cy="210312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8581292" y="6035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08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35572" y="3566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182만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530862" y="3976256"/>
            <a:ext cx="640080" cy="1967344"/>
          </a:xfrm>
          <a:prstGeom prst="roundRect">
            <a:avLst>
              <a:gd name="adj" fmla="val 11429"/>
            </a:avLst>
          </a:prstGeom>
          <a:solidFill>
            <a:srgbClr val="93C5FD"/>
          </a:solidFill>
          <a:ln/>
        </p:spPr>
      </p:sp>
      <p:sp>
        <p:nvSpPr>
          <p:cNvPr id="27" name="Text 25"/>
          <p:cNvSpPr/>
          <p:nvPr/>
        </p:nvSpPr>
        <p:spPr>
          <a:xfrm>
            <a:off x="9439422" y="6035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09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388991" y="3934424"/>
            <a:ext cx="640080" cy="2009176"/>
          </a:xfrm>
          <a:prstGeom prst="roundRect">
            <a:avLst>
              <a:gd name="adj" fmla="val 11429"/>
            </a:avLst>
          </a:prstGeom>
          <a:solidFill>
            <a:srgbClr val="93C5FD"/>
          </a:solidFill>
          <a:ln/>
        </p:spPr>
      </p:sp>
      <p:sp>
        <p:nvSpPr>
          <p:cNvPr id="29" name="Text 27"/>
          <p:cNvSpPr/>
          <p:nvPr/>
        </p:nvSpPr>
        <p:spPr>
          <a:xfrm>
            <a:off x="10297551" y="6035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GLOBAL TARGETING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9144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111827"/>
                </a:solidFill>
              </a:rPr>
              <a:t>병원의 성장을 만드는
</a:t>
            </a:r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59669"/>
                </a:solidFill>
              </a:rPr>
              <a:t>3대 핵심 타깃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0" y="21945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B5563"/>
                </a:solidFill>
              </a:rPr>
              <a:t>효율적인 해외환자 유치를 위해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B5563"/>
                </a:solidFill>
              </a:rPr>
              <a:t>국가별 특성과 소비 패턴을 반영한 전략적 집중이 필요합니다.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0" y="3200400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60920" y="3154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중국 본토 (Mainland China)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6092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프리미엄 시술 수요와 높은 전환율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420624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360920" y="4160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대만 · 홍콩 (Taiwan / Hong Kong)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60920" y="4480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성형·피부 미용 분야 높은 재유입률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5212080"/>
            <a:ext cx="320040" cy="3200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7360920" y="5166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미국 · 영어권 (US / EN Markets)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60920" y="5486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지속적으로 새로운 수요가 확대되고 있는 글로벌의 핵심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"/>
            <a:ext cx="5943600" cy="566928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52400" dist="50800" dir="162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731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국적별 방한 외래객 TOP 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주요 타겟 국가별 방문 규모 (2024~2025 기준)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🇨🇳 중국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94560" y="1874520"/>
            <a:ext cx="365760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598932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5,313,896명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26517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🇯🇵 일본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94560" y="2697480"/>
            <a:ext cx="2465953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4797673" y="2651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3,577,043명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3474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🇹🇼 대만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194560" y="3520440"/>
            <a:ext cx="1246753" cy="3657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3578473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1,807,323명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4297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🇺🇸 미국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194560" y="4343400"/>
            <a:ext cx="998780" cy="36576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</p:spPr>
      </p:sp>
      <p:sp>
        <p:nvSpPr>
          <p:cNvPr id="29" name="Text 27"/>
          <p:cNvSpPr/>
          <p:nvPr/>
        </p:nvSpPr>
        <p:spPr>
          <a:xfrm>
            <a:off x="333050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1,449,861명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" y="5120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</a:rPr>
              <a:t>🇭🇰 홍콩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194560" y="5166360"/>
            <a:ext cx="420176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2751896" y="5120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610,711명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FAQ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</a:rPr>
              <a:t>자주 묻는 질문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파트너 병원 원장님들이 가장 궁금해하시는 내용을 정리했습니다.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084832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848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브로커와 무엇이 다른가요?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377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병원 브랜딩 기반의 콘텐츠·전략으로, 병원이 스스로 성장하는 시스템을 구축합니다.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10515600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999232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992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외국인 상담·통역은 누가 담당하나요?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291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전담 상담팀이 중국어·영어로 문의 대응, 예약 조율, 사후관리까지 모두 진행합니다.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703320"/>
            <a:ext cx="10515600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913632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136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샤오홍슈 운영도 함께 해주시나요?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206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공식 계정 개설·인증·운영, 콘텐츠 기획/촬영/편집, 왕홍 협업까지 모두 포함됩니다.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617720"/>
            <a:ext cx="10515600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828032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280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97280" y="4754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병원 브랜드 방향성이 훼손되진 않을까요?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5120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초기 브랜드 진단 기반으로 톤과 콘셉트에 맞는 콘텐츠·전략만 적용합니다.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532120"/>
            <a:ext cx="10515600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5742432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7424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97280" y="5669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비용 구조는 어떻게 되나요?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6035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초기 부담을 줄인 정액제 또는 성과 기반 구조 중 선택 가능합니다.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6400800" cy="64008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C5FD"/>
                </a:solidFill>
              </a:rPr>
              <a:t>VitalConnection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대한민국의 의료기술, 세계와 연결합니다.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vitalconnect@naver.com  |  010-5769-2138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50292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주식회사 바이탈커넥션  |  사업자번호: 699-86-03698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0" y="594360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© 2024 VitalConnection Inc. All rights reserved.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VitalConnection - 병원 전문 글로벌 마케팅 에이전시</dc:title>
  <dc:subject>PptxGenJS Presentation</dc:subject>
  <dc:creator>VitalConnection</dc:creator>
  <cp:lastModifiedBy>VitalConnection</cp:lastModifiedBy>
  <cp:revision>1</cp:revision>
  <dcterms:created xsi:type="dcterms:W3CDTF">2026-03-20T08:51:06Z</dcterms:created>
  <dcterms:modified xsi:type="dcterms:W3CDTF">2026-03-20T08:51:06Z</dcterms:modified>
</cp:coreProperties>
</file>